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8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3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4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4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0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0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9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0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3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64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4E23135-28DC-4C2F-870A-F3BFE12992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B0D59FD-E50A-4F98-B071-555D7F78CFB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698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8764-5BF3-4734-EB36-80E4D4E9F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Transitioning </a:t>
            </a:r>
            <a:r>
              <a:rPr lang="en-US" dirty="0" err="1"/>
              <a:t>ChadaTech</a:t>
            </a:r>
            <a:r>
              <a:rPr lang="en-US" dirty="0"/>
              <a:t> to Agile: SNHU Travel Pilot Project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65631-F978-5B29-535F-BE7E794BD3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Evaluating Scrum Methodologies for Enterprise-Wide Adoption</a:t>
            </a:r>
            <a:endParaRPr lang="en-US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C55EB26-FA13-687F-76DD-06E077BC87AF}"/>
              </a:ext>
            </a:extLst>
          </p:cNvPr>
          <p:cNvSpPr txBox="1">
            <a:spLocks/>
          </p:cNvSpPr>
          <p:nvPr/>
        </p:nvSpPr>
        <p:spPr>
          <a:xfrm>
            <a:off x="581191" y="3429000"/>
            <a:ext cx="10993546" cy="1078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Presented by: Halle Poole, Scrum master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Date: October 18, 2026</a:t>
            </a:r>
            <a:br>
              <a:rPr lang="en-US" dirty="0">
                <a:solidFill>
                  <a:schemeClr val="bg1"/>
                </a:solidFill>
              </a:rPr>
            </a:b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64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892C-7D5A-0E76-232C-34BA481D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Roles on a Scrum-Agile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6C73-F4DA-A0E2-139A-BA145D8D7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/>
              <a:t>Product Owner:</a:t>
            </a:r>
            <a:r>
              <a:rPr lang="en-US" dirty="0"/>
              <a:t> Owns product vision, manages and prioritizes the backlog, represents business stakeholders.</a:t>
            </a:r>
          </a:p>
          <a:p>
            <a:pPr lvl="1"/>
            <a:r>
              <a:rPr lang="en-US" i="1" dirty="0"/>
              <a:t>Importance:</a:t>
            </a:r>
            <a:r>
              <a:rPr lang="en-US" dirty="0"/>
              <a:t> Ensures high-value business features are built first.</a:t>
            </a:r>
          </a:p>
          <a:p>
            <a:pPr lvl="0"/>
            <a:r>
              <a:rPr lang="en-US" b="1" dirty="0"/>
              <a:t>Scrum Master:</a:t>
            </a:r>
            <a:r>
              <a:rPr lang="en-US" dirty="0"/>
              <a:t> Serves as a servant-leader, facilitates ceremonies, removes blockers. </a:t>
            </a:r>
          </a:p>
          <a:p>
            <a:pPr lvl="1"/>
            <a:r>
              <a:rPr lang="en-US" i="1" dirty="0"/>
              <a:t>Importance:</a:t>
            </a:r>
            <a:r>
              <a:rPr lang="en-US" dirty="0"/>
              <a:t> Protects team velocity and drives process optimization.</a:t>
            </a:r>
          </a:p>
          <a:p>
            <a:pPr lvl="0"/>
            <a:r>
              <a:rPr lang="en-US" b="1" dirty="0"/>
              <a:t>Development Team:</a:t>
            </a:r>
            <a:r>
              <a:rPr lang="en-US" dirty="0"/>
              <a:t> Cross-functional group of engineers, designers, and testers. </a:t>
            </a:r>
          </a:p>
          <a:p>
            <a:pPr lvl="1"/>
            <a:r>
              <a:rPr lang="en-US" i="1" dirty="0"/>
              <a:t>Importance:</a:t>
            </a:r>
            <a:r>
              <a:rPr lang="en-US" dirty="0"/>
              <a:t> Self-organizes to deliver functional increments every sprint.</a:t>
            </a:r>
          </a:p>
          <a:p>
            <a:pPr lvl="1"/>
            <a:endParaRPr lang="en-US" i="1" dirty="0"/>
          </a:p>
          <a:p>
            <a:pPr marL="324000" lvl="1" indent="0">
              <a:buNone/>
            </a:pPr>
            <a:endParaRPr lang="en-US" i="1" dirty="0"/>
          </a:p>
          <a:p>
            <a:pPr marL="324000" lvl="1" indent="0">
              <a:buNone/>
            </a:pPr>
            <a:r>
              <a:rPr lang="en-US" i="1" dirty="0"/>
              <a:t>(Jile, 2023)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7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F4EE-F65C-A71E-C239-B4ECBFC0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Software Development Life Cycle (SDLC)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2B27-0CBE-963A-3472-0D8D10E6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Iterative Planning &amp; Backlog Refinement:</a:t>
            </a:r>
            <a:r>
              <a:rPr lang="en-US" dirty="0"/>
              <a:t> Requirements dynamically evolve into prioritized user stories.</a:t>
            </a:r>
          </a:p>
          <a:p>
            <a:pPr lvl="0"/>
            <a:r>
              <a:rPr lang="en-US" b="1" dirty="0"/>
              <a:t>Continuous Build &amp; Testing:</a:t>
            </a:r>
            <a:r>
              <a:rPr lang="en-US" dirty="0"/>
              <a:t> Coding and quality assurance happen concurrently within short, time-boxed sprints (2–4 weeks).</a:t>
            </a:r>
          </a:p>
          <a:p>
            <a:pPr lvl="0"/>
            <a:r>
              <a:rPr lang="en-US" b="1" dirty="0"/>
              <a:t>Review &amp; Adapt:</a:t>
            </a:r>
            <a:r>
              <a:rPr lang="en-US" dirty="0"/>
              <a:t> Working software increments are demonstrated to stakeholders continuously for rapid feedback.</a:t>
            </a:r>
          </a:p>
          <a:p>
            <a:pPr lvl="0"/>
            <a:endParaRPr lang="en-US" i="1" dirty="0"/>
          </a:p>
          <a:p>
            <a:pPr lvl="0"/>
            <a:r>
              <a:rPr lang="en-US" b="1" i="1" dirty="0"/>
              <a:t>Importance:</a:t>
            </a:r>
            <a:r>
              <a:rPr lang="en-US" dirty="0"/>
              <a:t> Drastically reduces project risk, catches defects early, and avoids building obsolete features.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(</a:t>
            </a:r>
            <a:r>
              <a:rPr lang="en-US" i="1" dirty="0" err="1"/>
              <a:t>Codewave</a:t>
            </a:r>
            <a:r>
              <a:rPr lang="en-US" i="1" dirty="0"/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2214265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C5981-DE8F-0EAB-7E7C-6A366C90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vs. Agile: Managing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17E47-47B2-3505-1C87-C2F1B4A95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The Waterfall Trap:</a:t>
            </a:r>
            <a:r>
              <a:rPr lang="en-US" dirty="0"/>
              <a:t> In a rigid waterfall model, a mid-project change request (such as new travel booking requirements) triggers costly change orders, documentation delays, and halted progress because phases are locked upfront.</a:t>
            </a:r>
          </a:p>
          <a:p>
            <a:pPr lvl="0"/>
            <a:r>
              <a:rPr lang="en-US" b="1" dirty="0"/>
              <a:t>The Agile Advantage:</a:t>
            </a:r>
            <a:r>
              <a:rPr lang="en-US" dirty="0"/>
              <a:t> During our SNHU Travel pilot, sudden requirement changes were absorbed seamlessly during sprint planning by re-prioritizing the backlog without breaking project momentum.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(Atlassian, 2026)</a:t>
            </a:r>
          </a:p>
        </p:txBody>
      </p:sp>
    </p:spTree>
    <p:extLst>
      <p:ext uri="{BB962C8B-B14F-4D97-AF65-F5344CB8AC3E}">
        <p14:creationId xmlns:p14="http://schemas.microsoft.com/office/powerpoint/2010/main" val="130395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C5F38-B394-09FE-F998-967B680F7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Your Methodology: Key Decision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76E84-8BDD-E45F-A240-1F1659868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40093"/>
          </a:xfrm>
        </p:spPr>
        <p:txBody>
          <a:bodyPr/>
          <a:lstStyle/>
          <a:p>
            <a:pPr lvl="0"/>
            <a:r>
              <a:rPr lang="en-US" b="1" dirty="0"/>
              <a:t>Requirement Volatility:</a:t>
            </a:r>
            <a:r>
              <a:rPr lang="en-US" dirty="0"/>
              <a:t> Agile excels when requirements evolve; Waterfall fits fixed-scope, heavily regulated projects.</a:t>
            </a:r>
          </a:p>
          <a:p>
            <a:pPr lvl="0"/>
            <a:r>
              <a:rPr lang="en-US" b="1" dirty="0"/>
              <a:t>Client Availability:</a:t>
            </a:r>
            <a:r>
              <a:rPr lang="en-US" dirty="0"/>
              <a:t> Agile requires active, ongoing stakeholder engagement; Waterfall relies on upfront agreements.</a:t>
            </a:r>
          </a:p>
          <a:p>
            <a:pPr lvl="0"/>
            <a:r>
              <a:rPr lang="en-US" b="1" dirty="0"/>
              <a:t>Time-to-Market &amp; Risk Tolerance:</a:t>
            </a:r>
            <a:r>
              <a:rPr lang="en-US" dirty="0"/>
              <a:t> Agile delivers Minimum Viable Products (MVPs) rapidly; Waterfall emphasizes exhaustive upfront planning.</a:t>
            </a:r>
          </a:p>
          <a:p>
            <a:pPr lvl="0"/>
            <a:r>
              <a:rPr lang="en-US" b="1" dirty="0"/>
              <a:t>Recommendation for </a:t>
            </a:r>
            <a:r>
              <a:rPr lang="en-US" b="1" dirty="0" err="1"/>
              <a:t>ChadaTech</a:t>
            </a:r>
            <a:r>
              <a:rPr lang="en-US" b="1" dirty="0"/>
              <a:t>:</a:t>
            </a:r>
            <a:r>
              <a:rPr lang="en-US" dirty="0"/>
              <a:t> Transitioning to Agile will modernize our corporate culture and increase client satisfaction.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i="1" dirty="0"/>
              <a:t>(Teaching Agile, 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93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03DE-CE2D-7B10-4C89-97AD3C5D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F71B-FB4F-DCA7-5A0B-F489C6784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Atlassian. (2026). </a:t>
            </a:r>
            <a:r>
              <a:rPr lang="en-US" sz="2400" i="1" dirty="0"/>
              <a:t>Agile versus waterfall project management methodology</a:t>
            </a:r>
            <a:r>
              <a:rPr lang="en-US" sz="2400" dirty="0"/>
              <a:t>. Atlassian Guides.</a:t>
            </a:r>
          </a:p>
          <a:p>
            <a:pPr lvl="0"/>
            <a:r>
              <a:rPr lang="en-US" sz="2400" dirty="0" err="1"/>
              <a:t>Codewave</a:t>
            </a:r>
            <a:r>
              <a:rPr lang="en-US" sz="2400" dirty="0"/>
              <a:t>. (2026). </a:t>
            </a:r>
            <a:r>
              <a:rPr lang="en-US" sz="2400" i="1" dirty="0"/>
              <a:t>Agile Scrum's role in the software development life cycle (SDLC)</a:t>
            </a:r>
            <a:r>
              <a:rPr lang="en-US" sz="2400" dirty="0"/>
              <a:t>. </a:t>
            </a:r>
            <a:r>
              <a:rPr lang="en-US" sz="2400" dirty="0" err="1"/>
              <a:t>Codewave</a:t>
            </a:r>
            <a:r>
              <a:rPr lang="en-US" sz="2400" dirty="0"/>
              <a:t> Insights.</a:t>
            </a:r>
          </a:p>
          <a:p>
            <a:pPr lvl="0"/>
            <a:r>
              <a:rPr lang="en-US" sz="2400" dirty="0"/>
              <a:t>Jile. (2023). </a:t>
            </a:r>
            <a:r>
              <a:rPr lang="en-US" sz="2400" i="1" dirty="0"/>
              <a:t>7 key benefits of using the Agile Scrum methodology</a:t>
            </a:r>
            <a:r>
              <a:rPr lang="en-US" sz="2400" dirty="0"/>
              <a:t>. Agile Enterprise Transformation Reports.</a:t>
            </a:r>
          </a:p>
          <a:p>
            <a:pPr lvl="0"/>
            <a:r>
              <a:rPr lang="en-US" sz="2400" dirty="0"/>
              <a:t>Teaching Agile. (2025). </a:t>
            </a:r>
            <a:r>
              <a:rPr lang="en-US" sz="2400" i="1" dirty="0"/>
              <a:t>Benefits of Scrum framework: Complete guide to Agile advantages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3161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EBEB51600C7045B85B59D3EE146D0C" ma:contentTypeVersion="9" ma:contentTypeDescription="Create a new document." ma:contentTypeScope="" ma:versionID="1c7645939e8760c6408d9c4a5dc33d9f">
  <xsd:schema xmlns:xsd="http://www.w3.org/2001/XMLSchema" xmlns:xs="http://www.w3.org/2001/XMLSchema" xmlns:p="http://schemas.microsoft.com/office/2006/metadata/properties" xmlns:ns3="29ab0052-1778-450f-81a6-7792c7149f65" targetNamespace="http://schemas.microsoft.com/office/2006/metadata/properties" ma:root="true" ma:fieldsID="1ee62761c5da34964b33c1aacd71c46d" ns3:_="">
    <xsd:import namespace="29ab0052-1778-450f-81a6-7792c7149f6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ab0052-1778-450f-81a6-7792c7149f6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9ab0052-1778-450f-81a6-7792c7149f65" xsi:nil="true"/>
  </documentManagement>
</p:properties>
</file>

<file path=customXml/itemProps1.xml><?xml version="1.0" encoding="utf-8"?>
<ds:datastoreItem xmlns:ds="http://schemas.openxmlformats.org/officeDocument/2006/customXml" ds:itemID="{12EDC704-603A-401B-89F6-0EB767B0D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ab0052-1778-450f-81a6-7792c7149f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1E391A-CB8C-46FF-BEB5-1A7FDE4ECD5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ADA85-38D7-471C-8D47-B7E282B447DC}">
  <ds:schemaRefs>
    <ds:schemaRef ds:uri="http://schemas.microsoft.com/office/2006/metadata/properties"/>
    <ds:schemaRef ds:uri="http://schemas.microsoft.com/office/infopath/2007/PartnerControls"/>
    <ds:schemaRef ds:uri="29ab0052-1778-450f-81a6-7792c7149f65"/>
  </ds:schemaRefs>
</ds:datastoreItem>
</file>

<file path=docMetadata/LabelInfo.xml><?xml version="1.0" encoding="utf-8"?>
<clbl:labelList xmlns:clbl="http://schemas.microsoft.com/office/2020/mipLabelMetadata">
  <clbl:label id="{2baef15b-b8de-423f-9d8a-46f3686d8848}" enabled="0" method="" siteId="{2baef15b-b8de-423f-9d8a-46f3686d884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72</TotalTime>
  <Words>436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</vt:lpstr>
      <vt:lpstr>Transitioning ChadaTech to Agile: SNHU Travel Pilot Project Review</vt:lpstr>
      <vt:lpstr>Core Roles on a Scrum-Agile Team</vt:lpstr>
      <vt:lpstr>The Agile Software Development Life Cycle (SDLC)</vt:lpstr>
      <vt:lpstr>Waterfall vs. Agile: Managing Change</vt:lpstr>
      <vt:lpstr>Choosing Your Methodology: Key Decision Factors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Poole, Halle</dc:creator>
  <cp:lastModifiedBy>Poole, Halle</cp:lastModifiedBy>
  <cp:revision>1</cp:revision>
  <dcterms:created xsi:type="dcterms:W3CDTF">2026-10-18T16:00:04Z</dcterms:created>
  <dcterms:modified xsi:type="dcterms:W3CDTF">2026-10-18T17:13:00Z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0x0101000AEBEB51600C7045B85B59D3EE146D0C</vt:lpwstr>
  </property>
</Properties>
</file>